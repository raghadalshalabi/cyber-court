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TC Avant Garde Gothic Bold" charset="1" panose="020B0802020202020204"/>
      <p:regular r:id="rId24"/>
    </p:embeddedFont>
    <p:embeddedFont>
      <p:font typeface="ITC Avant Garde Gothic" charset="1" panose="020B0502020202020204"/>
      <p:regular r:id="rId25"/>
    </p:embeddedFont>
    <p:embeddedFont>
      <p:font typeface="TT Fors" charset="1" panose="020B0003030001020000"/>
      <p:regular r:id="rId26"/>
    </p:embeddedFont>
    <p:embeddedFont>
      <p:font typeface="TT Fors Bold" charset="1" panose="020B000303000102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11204676" cy="2176154"/>
            <a:chOff x="0" y="0"/>
            <a:chExt cx="14939568" cy="290153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4939568" cy="230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376"/>
                </a:lnSpc>
              </a:pPr>
              <a:r>
                <a:rPr lang="en-US" b="true" sz="11376" spc="-341">
                  <a:solidFill>
                    <a:srgbClr val="00FFFF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CYBER COURT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188685"/>
              <a:ext cx="14939568" cy="7128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77"/>
                </a:lnSpc>
                <a:spcBef>
                  <a:spcPct val="0"/>
                </a:spcBef>
              </a:pPr>
              <a:r>
                <a:rPr lang="en-US" sz="2983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AI-</a:t>
              </a:r>
              <a:r>
                <a:rPr lang="en-US" sz="2983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BASED CYBERCRIME INVESTIGATION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294505"/>
            <a:ext cx="8115300" cy="209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</a:pPr>
            <a:r>
              <a:rPr lang="en-US" b="true" sz="2899">
                <a:solidFill>
                  <a:srgbClr val="00CCC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</a:t>
            </a:r>
            <a:r>
              <a:rPr lang="en-US" b="true" sz="2899">
                <a:solidFill>
                  <a:srgbClr val="00CCC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resented By: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Osama Ibrahim Mohammad Abughalieh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Akram Ahmad Mohammad Khraiwesh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 Raghad Loai Ismail Shalabi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8991" y="9791065"/>
            <a:ext cx="719465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Supe</a:t>
            </a:r>
            <a:r>
              <a:rPr lang="en-US" sz="2600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rvisor: Dr. Mohammed Al</a:t>
            </a:r>
            <a:r>
              <a:rPr lang="en-US" sz="2600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maiah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3151757" cy="8379980"/>
            <a:chOff x="0" y="0"/>
            <a:chExt cx="17535676" cy="111733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7535676" cy="302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sz="8100" spc="-243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Background and Motivation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440614"/>
              <a:ext cx="13032467" cy="6732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The </a:t>
              </a:r>
              <a:r>
                <a:rPr lang="en-US" b="true" sz="2199">
                  <a:solidFill>
                    <a:srgbClr val="C0C0C0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rapid rise of cybercrime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, especially phishing and financial fraud, has introduced new investigative challenges in modern digital environments.</a:t>
              </a:r>
            </a:p>
            <a:p>
              <a:pPr algn="l" marL="0" indent="0" lvl="0">
                <a:lnSpc>
                  <a:spcPts val="3079"/>
                </a:lnSpc>
              </a:pPr>
            </a:p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These crimes rely heavily on deceptio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, soci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 engineer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, 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nd cross-border digi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al infrastructure, mak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ing t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m diff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ic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 to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an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yz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usin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tradition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al 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metho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s.</a:t>
              </a:r>
            </a:p>
            <a:p>
              <a:pPr algn="l" marL="0" indent="0" lvl="0">
                <a:lnSpc>
                  <a:spcPts val="3079"/>
                </a:lnSpc>
              </a:pPr>
            </a:p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Cybercrime inves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ig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tions require handling complex technical evidence while also understanding legal implications.</a:t>
              </a:r>
            </a:p>
            <a:p>
              <a:pPr algn="l" marL="0" indent="0" lvl="0">
                <a:lnSpc>
                  <a:spcPts val="3079"/>
                </a:lnSpc>
              </a:pPr>
            </a:p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However, in many cases, cybersecurity analysis and legal interpretation remain disconnected, creating a critical gap that slows investigations and affects clarity in legal decision-making.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35586"/>
              <a:ext cx="15284072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59"/>
                </a:lnSpc>
                <a:spcBef>
                  <a:spcPct val="0"/>
                </a:spcBef>
              </a:pPr>
              <a:r>
                <a:rPr lang="en-US" sz="3299" spc="-98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Growth of Cybercrime Landscape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5887" y="1019175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Problem Statement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85888" y="6162329"/>
            <a:ext cx="6886575" cy="1419225"/>
            <a:chOff x="0" y="0"/>
            <a:chExt cx="9182100" cy="18923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Technical findings are often disconnected from legal interpretation, weakening case clarity.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Technical–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Legal 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Gap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5888" y="3476212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ybercrime evidence is scattered across emails, links, and financial records...etc, making analysis difficult and time-consuming.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Fr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gmen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ted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Digital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Evidence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15538" y="6162262"/>
            <a:ext cx="6886575" cy="1419225"/>
            <a:chOff x="0" y="0"/>
            <a:chExt cx="9182100" cy="18923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omplex cyber incidents are difficult to explain clearly to legal stakeholders.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Case 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Complexity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015538" y="3476279"/>
            <a:ext cx="6886575" cy="1419225"/>
            <a:chOff x="0" y="0"/>
            <a:chExt cx="9182100" cy="18923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Investigations rely heavily on manual processes, increasing effort, delays, and the risk of errors.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Manual 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Wo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kloa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22993" y="3495483"/>
            <a:ext cx="7636307" cy="3018819"/>
          </a:xfrm>
          <a:custGeom>
            <a:avLst/>
            <a:gdLst/>
            <a:ahLst/>
            <a:cxnLst/>
            <a:rect r="r" b="b" t="t" l="l"/>
            <a:pathLst>
              <a:path h="3018819" w="7636307">
                <a:moveTo>
                  <a:pt x="0" y="0"/>
                </a:moveTo>
                <a:lnTo>
                  <a:pt x="7636307" y="0"/>
                </a:lnTo>
                <a:lnTo>
                  <a:pt x="7636307" y="3018820"/>
                </a:lnTo>
                <a:lnTo>
                  <a:pt x="0" y="3018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77" t="-13819" r="-9203" b="-2300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0567076" cy="4032858"/>
            <a:chOff x="0" y="0"/>
            <a:chExt cx="14089435" cy="537714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089435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428964"/>
              <a:ext cx="10471230" cy="1948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Cyber Court is an AI-assisted, web-based system for analyzing cybercrime cases from both technical and legal perspectives.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It focuses on phishing and financial fraud and 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organiz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es d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ig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ital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evidence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in a clear structure.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235200"/>
              <a:ext cx="12280333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Cyber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Cou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S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ys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4937930"/>
            <a:ext cx="10567076" cy="2273936"/>
            <a:chOff x="0" y="0"/>
            <a:chExt cx="14089435" cy="303191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14089435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579034"/>
              <a:ext cx="1047123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 system supports users in unde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st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ing 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cyb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rcr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i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nc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id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nts by linking technical findings with legal context.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It is designed as a decision-support and educational platform.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84717"/>
              <a:ext cx="12280333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Sy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stem 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rp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5888" y="1450687"/>
            <a:ext cx="15516225" cy="122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Project Objectives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85888" y="7603905"/>
            <a:ext cx="6886575" cy="1251085"/>
            <a:chOff x="0" y="0"/>
            <a:chExt cx="9182100" cy="166811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2646"/>
              <a:ext cx="9182100" cy="73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8"/>
                </a:lnSpc>
              </a:pP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upport case understanding through AI-based text analysis and event correlation.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AI-Ass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is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ted An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5888" y="5543195"/>
            <a:ext cx="6886575" cy="1251085"/>
            <a:chOff x="0" y="0"/>
            <a:chExt cx="9182100" cy="166811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2646"/>
              <a:ext cx="9182100" cy="73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8"/>
                </a:lnSpc>
              </a:pP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Organ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ize digital evidence such as emails, URLs, and transaction data in one place.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Ev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denc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 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Ma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na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85888" y="3482688"/>
            <a:ext cx="6886575" cy="1251085"/>
            <a:chOff x="0" y="0"/>
            <a:chExt cx="9182100" cy="166811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2646"/>
              <a:ext cx="9182100" cy="73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8"/>
                </a:lnSpc>
              </a:pP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Prov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ide a 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structured 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y to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manage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cybercrime cases and related information.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Clear 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Case 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Org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iz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tio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63138" y="5543195"/>
            <a:ext cx="6886575" cy="1251085"/>
            <a:chOff x="0" y="0"/>
            <a:chExt cx="9182100" cy="166811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2646"/>
              <a:ext cx="9182100" cy="73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8"/>
                </a:lnSpc>
              </a:pP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esent cases using timelines and summarized views for clarity.</a:t>
              </a:r>
            </a:p>
            <a:p>
              <a:pPr algn="l" marL="0" indent="0" lvl="0">
                <a:lnSpc>
                  <a:spcPts val="2278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Visu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iz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15538" y="3482688"/>
            <a:ext cx="6886575" cy="1251085"/>
            <a:chOff x="0" y="0"/>
            <a:chExt cx="9182100" cy="166811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32646"/>
              <a:ext cx="9182100" cy="73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78"/>
                </a:lnSpc>
              </a:pP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16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ink technical cyber findings to relevant legal concepts and cybercrime laws.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1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sz="2567" spc="-77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gal Co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xt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pp</a:t>
              </a:r>
              <a:r>
                <a:rPr lang="en-US" sz="2567" spc="-77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29602" y="2566904"/>
            <a:ext cx="6886575" cy="2391814"/>
            <a:chOff x="0" y="0"/>
            <a:chExt cx="9182100" cy="318908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45605"/>
              <a:ext cx="9182100" cy="2443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•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P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hishing 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tt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acks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• Financial fraud cases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• Emails and malicious URLs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• Digital identities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• Transaction records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Included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29602" y="5553595"/>
            <a:ext cx="6886575" cy="1623233"/>
            <a:chOff x="0" y="0"/>
            <a:chExt cx="9182100" cy="21643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1143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•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R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eal-time monitoring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• Live system integrations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• Automated legal decisions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Excluded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9979" y="1028700"/>
            <a:ext cx="6886575" cy="2533650"/>
            <a:chOff x="0" y="0"/>
            <a:chExt cx="9182100" cy="3378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91821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Scope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161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Defining the capabilities of Cyber Court System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9979" y="3859533"/>
            <a:ext cx="688657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Cyb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er Court supports the analys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is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 of commo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n 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cyb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r 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hr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e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a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t</a:t>
            </a:r>
            <a:r>
              <a:rPr lang="en-US" sz="2100">
                <a:solidFill>
                  <a:srgbClr val="C0C0C0"/>
                </a:solidFill>
                <a:latin typeface="TT Fors"/>
                <a:ea typeface="TT Fors"/>
                <a:cs typeface="TT Fors"/>
                <a:sym typeface="TT Fors"/>
              </a:rPr>
              <a:t>s and online fraud incidents by organizing digital evidence and case information within a defined scope.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19979" y="1028700"/>
            <a:ext cx="6886575" cy="4029075"/>
            <a:chOff x="0" y="0"/>
            <a:chExt cx="9182100" cy="53721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System Features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components enhancing investigation and analysis capabilities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028700"/>
            <a:ext cx="6886575" cy="1251758"/>
            <a:chOff x="0" y="0"/>
            <a:chExt cx="9182100" cy="166901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1143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Create and manage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structured cybercrime cases with clear status and summaries.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Case Management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96400" y="2623184"/>
            <a:ext cx="6886575" cy="1251758"/>
            <a:chOff x="0" y="0"/>
            <a:chExt cx="9182100" cy="166901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71143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pload, organize, and review digital evidence such as emails, URLs, and transaction records.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Evidenc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 Management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4217842"/>
            <a:ext cx="6886575" cy="1251758"/>
            <a:chOff x="0" y="0"/>
            <a:chExt cx="9182100" cy="166901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71143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Manage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investigator, analyst, and case-related profiles to reflect realistic workflows.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U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se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r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 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Profil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96400" y="5812500"/>
            <a:ext cx="6886575" cy="1251758"/>
            <a:chOff x="0" y="0"/>
            <a:chExt cx="9182100" cy="166901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71143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Analyze case descriptions and evidence using AI to extract key information and events.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AI-Assi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d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 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na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lysis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296400" y="7473770"/>
            <a:ext cx="6886575" cy="1623233"/>
            <a:chOff x="0" y="0"/>
            <a:chExt cx="9182100" cy="2164310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71143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Li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nk technical findings to relevant cybercrime laws and legal explanations.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L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egal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 Adv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is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ory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100907" y="383553"/>
            <a:ext cx="9987005" cy="4638356"/>
          </a:xfrm>
          <a:custGeom>
            <a:avLst/>
            <a:gdLst/>
            <a:ahLst/>
            <a:cxnLst/>
            <a:rect r="r" b="b" t="t" l="l"/>
            <a:pathLst>
              <a:path h="4638356" w="9987005">
                <a:moveTo>
                  <a:pt x="0" y="0"/>
                </a:moveTo>
                <a:lnTo>
                  <a:pt x="9987005" y="0"/>
                </a:lnTo>
                <a:lnTo>
                  <a:pt x="9987005" y="4638356"/>
                </a:lnTo>
                <a:lnTo>
                  <a:pt x="0" y="46383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84" t="0" r="-218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00907" y="5276177"/>
            <a:ext cx="10086185" cy="3982123"/>
          </a:xfrm>
          <a:custGeom>
            <a:avLst/>
            <a:gdLst/>
            <a:ahLst/>
            <a:cxnLst/>
            <a:rect r="r" b="b" t="t" l="l"/>
            <a:pathLst>
              <a:path h="3982123" w="10086185">
                <a:moveTo>
                  <a:pt x="0" y="0"/>
                </a:moveTo>
                <a:lnTo>
                  <a:pt x="10086186" y="0"/>
                </a:lnTo>
                <a:lnTo>
                  <a:pt x="10086186" y="3982123"/>
                </a:lnTo>
                <a:lnTo>
                  <a:pt x="0" y="39821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59" t="0" r="-385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303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AI Component Overview</a:t>
            </a:r>
          </a:p>
          <a:p>
            <a:pPr algn="l" marL="0" indent="0" lvl="0">
              <a:lnSpc>
                <a:spcPts val="20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00"/>
              </a:lnSpc>
              <a:spcBef>
                <a:spcPct val="0"/>
              </a:spcBef>
            </a:pPr>
            <a:r>
              <a:rPr lang="en-US" sz="2500" spc="-75" strike="noStrike" u="none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Cyber Court uses AI techniques to support case analysis and improve understanding without replacing human judgment.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4544305"/>
            <a:ext cx="7617653" cy="1258936"/>
            <a:chOff x="0" y="0"/>
            <a:chExt cx="10156871" cy="167858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932584"/>
              <a:ext cx="8660591" cy="745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3"/>
                </a:lnSpc>
              </a:pP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Analyze case d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scrip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io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ns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and phishing-related content to identify important details.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10156871" cy="495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6"/>
                </a:lnSpc>
                <a:spcBef>
                  <a:spcPct val="0"/>
                </a:spcBef>
              </a:pPr>
              <a:r>
                <a:rPr lang="en-US" sz="2496" spc="-74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Text 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Analy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6527141"/>
            <a:ext cx="7617653" cy="1258936"/>
            <a:chOff x="0" y="0"/>
            <a:chExt cx="10156871" cy="167858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932584"/>
              <a:ext cx="8660591" cy="745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3"/>
                </a:lnSpc>
              </a:pP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Ex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tract k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ey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entities such as dates, URLs, account identifiers, and transaction amounts.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10156871" cy="495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6"/>
                </a:lnSpc>
                <a:spcBef>
                  <a:spcPct val="0"/>
                </a:spcBef>
              </a:pPr>
              <a:r>
                <a:rPr lang="en-US" sz="2496" spc="-74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ty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Ex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acti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84403" y="4544305"/>
            <a:ext cx="7617653" cy="1548778"/>
            <a:chOff x="0" y="0"/>
            <a:chExt cx="10156871" cy="206503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932584"/>
              <a:ext cx="8660591" cy="1132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3"/>
                </a:lnSpc>
              </a:pP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onnec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extracted information to form a clear sequence of events for each case.</a:t>
              </a:r>
            </a:p>
            <a:p>
              <a:pPr algn="l" marL="0" indent="0" lvl="0">
                <a:lnSpc>
                  <a:spcPts val="2293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525"/>
              <a:ext cx="10156871" cy="495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6"/>
                </a:lnSpc>
                <a:spcBef>
                  <a:spcPct val="0"/>
                </a:spcBef>
              </a:pPr>
              <a:r>
                <a:rPr lang="en-US" sz="2496" spc="-74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Eve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nt 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Corr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la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84403" y="6527141"/>
            <a:ext cx="7617653" cy="1548778"/>
            <a:chOff x="0" y="0"/>
            <a:chExt cx="10156871" cy="2065038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932584"/>
              <a:ext cx="8660591" cy="1132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3"/>
                </a:lnSpc>
              </a:pP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ovide 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ex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pl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na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b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1638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 insights that help users understand cases rather than make automatic decisions.</a:t>
              </a:r>
            </a:p>
            <a:p>
              <a:pPr algn="l" marL="0" indent="0" lvl="0">
                <a:lnSpc>
                  <a:spcPts val="2293"/>
                </a:lnSpc>
              </a:pP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525"/>
              <a:ext cx="10156871" cy="495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6"/>
                </a:lnSpc>
                <a:spcBef>
                  <a:spcPct val="0"/>
                </a:spcBef>
              </a:pP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Dec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ision Suppor</a:t>
              </a:r>
              <a:r>
                <a:rPr lang="en-US" sz="2496" spc="-74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39207" y="3647385"/>
            <a:ext cx="9008999" cy="4561864"/>
          </a:xfrm>
          <a:custGeom>
            <a:avLst/>
            <a:gdLst/>
            <a:ahLst/>
            <a:cxnLst/>
            <a:rect r="r" b="b" t="t" l="l"/>
            <a:pathLst>
              <a:path h="4561864" w="9008999">
                <a:moveTo>
                  <a:pt x="0" y="0"/>
                </a:moveTo>
                <a:lnTo>
                  <a:pt x="9008999" y="0"/>
                </a:lnTo>
                <a:lnTo>
                  <a:pt x="9008999" y="4561864"/>
                </a:lnTo>
                <a:lnTo>
                  <a:pt x="0" y="45618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16" r="0" b="-171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2092" y="602092"/>
            <a:ext cx="11201400" cy="2184401"/>
            <a:chOff x="0" y="0"/>
            <a:chExt cx="14935200" cy="29125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Legal Advisory Module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17134"/>
              <a:ext cx="14454346" cy="1295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ber Court 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cludes a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egal 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advisory lay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to hel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use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 und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rs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ta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nd 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he legal releva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199" spc="-9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ce of cybercrime cases.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02092" y="3647385"/>
            <a:ext cx="7270155" cy="1072190"/>
            <a:chOff x="0" y="0"/>
            <a:chExt cx="9693541" cy="142958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16317"/>
              <a:ext cx="8265517" cy="713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89"/>
                </a:lnSpc>
              </a:pP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ink technical cyber findings, such as phish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g activities and fraud indicators, to relevant cybercrime laws.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525"/>
              <a:ext cx="9693541" cy="472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Legal 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Map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pin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2092" y="5202793"/>
            <a:ext cx="7270155" cy="1072190"/>
            <a:chOff x="0" y="0"/>
            <a:chExt cx="9693541" cy="142958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716317"/>
              <a:ext cx="8265517" cy="7132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89"/>
                </a:lnSpc>
              </a:pP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Pre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sent legal concepts in a simplifi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and understandable way for non-legal users.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525"/>
              <a:ext cx="9693541" cy="472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382" spc="-71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ear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Legal 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Expla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2092" y="6760759"/>
            <a:ext cx="7270155" cy="1348811"/>
            <a:chOff x="0" y="0"/>
            <a:chExt cx="9693541" cy="179841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716317"/>
              <a:ext cx="8265517" cy="1082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89"/>
                </a:lnSpc>
              </a:pP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ssist analysis and learning witho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ut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pr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156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viding automated or binding legal decisions.</a:t>
              </a:r>
            </a:p>
            <a:p>
              <a:pPr algn="l" marL="0" indent="0" lvl="0">
                <a:lnSpc>
                  <a:spcPts val="218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25"/>
              <a:ext cx="9693541" cy="472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pp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rti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ve R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382" spc="-71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1201400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System Architecture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00CCCC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Cyber Court is built using a modular architecture to ensure clarity, maintainability, and future scalability.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3345496"/>
            <a:ext cx="8477250" cy="1152906"/>
            <a:chOff x="0" y="0"/>
            <a:chExt cx="11303000" cy="1537208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710255"/>
              <a:ext cx="9637875" cy="826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2"/>
                </a:lnSpc>
              </a:pPr>
              <a:r>
                <a:rPr lang="en-US" sz="182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182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eb-based user interface that allows users to interact with cases, evidence, and analysis results.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11303000" cy="562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34"/>
                </a:lnSpc>
                <a:spcBef>
                  <a:spcPct val="0"/>
                </a:spcBef>
              </a:pPr>
              <a:r>
                <a:rPr lang="en-US" sz="2778" spc="-8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res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entat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 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4958614"/>
            <a:ext cx="8477250" cy="1152906"/>
            <a:chOff x="0" y="0"/>
            <a:chExt cx="11303000" cy="1537208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10255"/>
              <a:ext cx="9637875" cy="826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2"/>
                </a:lnSpc>
              </a:pPr>
              <a:r>
                <a:rPr lang="en-US" sz="182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Back</a:t>
              </a:r>
              <a:r>
                <a:rPr lang="en-US" sz="182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end logic implemented using Flask, including case management, AI processing, and legal mapping.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0"/>
              <a:ext cx="11303000" cy="562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34"/>
                </a:lnSpc>
                <a:spcBef>
                  <a:spcPct val="0"/>
                </a:spcBef>
              </a:pP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App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li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ca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Lay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6568720"/>
            <a:ext cx="8477250" cy="1475455"/>
            <a:chOff x="0" y="0"/>
            <a:chExt cx="11303000" cy="1967273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10255"/>
              <a:ext cx="9637875" cy="1257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2"/>
                </a:lnSpc>
              </a:pPr>
              <a:r>
                <a:rPr lang="en-US" sz="182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SQL-bas</a:t>
              </a:r>
              <a:r>
                <a:rPr lang="en-US" sz="182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ed database used to store case data, evidence metadata, user information, and legal references.</a:t>
              </a:r>
            </a:p>
            <a:p>
              <a:pPr algn="l" marL="0" indent="0" lvl="0">
                <a:lnSpc>
                  <a:spcPts val="2552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0"/>
              <a:ext cx="11303000" cy="562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34"/>
                </a:lnSpc>
                <a:spcBef>
                  <a:spcPct val="0"/>
                </a:spcBef>
              </a:pPr>
              <a:r>
                <a:rPr lang="en-US" sz="2778" spc="-8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 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778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72950" y="0"/>
            <a:ext cx="6115050" cy="10287000"/>
            <a:chOff x="0" y="0"/>
            <a:chExt cx="947381" cy="1593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7381" cy="1593725"/>
            </a:xfrm>
            <a:custGeom>
              <a:avLst/>
              <a:gdLst/>
              <a:ahLst/>
              <a:cxnLst/>
              <a:rect r="r" b="b" t="t" l="l"/>
              <a:pathLst>
                <a:path h="1593725" w="947381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0" t="-58" r="0" b="-58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3543300"/>
            <a:chOff x="0" y="0"/>
            <a:chExt cx="9182100" cy="4724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91821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Technologies Used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62325"/>
              <a:ext cx="91821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Key technologies powering the Cyber Court system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1028700"/>
            <a:ext cx="6886575" cy="1157662"/>
            <a:chOff x="0" y="0"/>
            <a:chExt cx="9182100" cy="154354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585969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sed as the main backend language to handle system log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 and AI-based analysis.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Python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03343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96400" y="2438400"/>
            <a:ext cx="6886575" cy="1157662"/>
            <a:chOff x="0" y="0"/>
            <a:chExt cx="9182100" cy="154354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585969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 lightw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eight Python framework used to build the backend architecture and system routes.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Flask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96400" y="3843712"/>
            <a:ext cx="6886575" cy="1157662"/>
            <a:chOff x="0" y="0"/>
            <a:chExt cx="9182100" cy="1543549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585969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sed to create interactive and dynamic user interfaces w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ithi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 the system.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JavaScrip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62589" y="5289274"/>
            <a:ext cx="6886575" cy="1157662"/>
            <a:chOff x="0" y="0"/>
            <a:chExt cx="9182100" cy="1543549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585969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sponsible for structuring and styling the web interface w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ith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a clean design.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HTML &amp; CSS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62589" y="6732686"/>
            <a:ext cx="6886575" cy="1529137"/>
            <a:chOff x="0" y="0"/>
            <a:chExt cx="9182100" cy="2038849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585969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sed to store structured case data, evidence records, and legal references.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SQL Da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t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abase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62589" y="8100638"/>
            <a:ext cx="6886575" cy="1157662"/>
            <a:chOff x="0" y="0"/>
            <a:chExt cx="9182100" cy="1543549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585969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Appli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ed to analyze text data and support case understanding.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 spc="-78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AI &amp; NL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P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 Tec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hn</a:t>
              </a:r>
              <a:r>
                <a:rPr lang="en-US" b="true" sz="2600" spc="-78" strike="noStrike" u="none">
                  <a:solidFill>
                    <a:srgbClr val="C0C0C0"/>
                  </a:solidFill>
                  <a:latin typeface="ITC Avant Garde Gothic Bold"/>
                  <a:ea typeface="ITC Avant Garde Gothic Bold"/>
                  <a:cs typeface="ITC Avant Garde Gothic Bold"/>
                  <a:sym typeface="ITC Avant Garde Gothic Bold"/>
                </a:rPr>
                <a:t>iques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7225"/>
            <a:ext cx="13482554" cy="228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Testing &amp; Validation Process</a:t>
            </a: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3000" spc="-89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Cyber Court was tested to ensure correct functionality, reliability, and clarity of results.</a:t>
            </a:r>
          </a:p>
          <a:p>
            <a:pPr algn="l" marL="0" indent="0" lvl="0">
              <a:lnSpc>
                <a:spcPts val="290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6750" y="3231461"/>
            <a:ext cx="15488850" cy="731712"/>
            <a:chOff x="0" y="0"/>
            <a:chExt cx="20651800" cy="97561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614237"/>
              <a:ext cx="17609437" cy="361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40"/>
                </a:lnSpc>
              </a:pP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ore backend logic and system functions were tested individually.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0"/>
              <a:ext cx="20651800" cy="493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  <a:spcBef>
                  <a:spcPct val="0"/>
                </a:spcBef>
              </a:pPr>
              <a:r>
                <a:rPr lang="en-US" sz="2438" spc="-7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nit 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es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ting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4379634"/>
            <a:ext cx="15488850" cy="731712"/>
            <a:chOff x="0" y="0"/>
            <a:chExt cx="20651800" cy="97561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14237"/>
              <a:ext cx="17609437" cy="361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40"/>
                </a:lnSpc>
              </a:pP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Syst</a:t>
              </a: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em components were tested together to ensure smooth data flow and consistency.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0"/>
              <a:ext cx="20651800" cy="493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  <a:spcBef>
                  <a:spcPct val="0"/>
                </a:spcBef>
              </a:pPr>
              <a:r>
                <a:rPr lang="en-US" sz="2438" spc="-7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gr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ation 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5611745"/>
            <a:ext cx="15488850" cy="731712"/>
            <a:chOff x="0" y="0"/>
            <a:chExt cx="20651800" cy="975616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614237"/>
              <a:ext cx="17609437" cy="361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40"/>
                </a:lnSpc>
              </a:pP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Featur</a:t>
              </a: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es such as case management, evidence handling, and legal mapping were tested based on requirements.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0"/>
              <a:ext cx="20651800" cy="493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  <a:spcBef>
                  <a:spcPct val="0"/>
                </a:spcBef>
              </a:pPr>
              <a:r>
                <a:rPr lang="en-US" sz="2438" spc="-7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nc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tion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es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6750" y="6759918"/>
            <a:ext cx="15488850" cy="731712"/>
            <a:chOff x="0" y="0"/>
            <a:chExt cx="20651800" cy="97561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614237"/>
              <a:ext cx="17609437" cy="361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40"/>
                </a:lnSpc>
              </a:pP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Ba</a:t>
              </a: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sic usability testing was conducted to ensure ease of use and clear navigation.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0"/>
              <a:ext cx="20651800" cy="493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  <a:spcBef>
                  <a:spcPct val="0"/>
                </a:spcBef>
              </a:pPr>
              <a:r>
                <a:rPr lang="en-US" sz="2438" spc="-7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ab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il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y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es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66750" y="7993815"/>
            <a:ext cx="15488850" cy="731712"/>
            <a:chOff x="0" y="0"/>
            <a:chExt cx="20651800" cy="975616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614237"/>
              <a:ext cx="17609437" cy="3613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40"/>
                </a:lnSpc>
              </a:pP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16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 system was validated using a realistic phishing and financial fraud scenario.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0"/>
              <a:ext cx="20651800" cy="493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6"/>
                </a:lnSpc>
                <a:spcBef>
                  <a:spcPct val="0"/>
                </a:spcBef>
              </a:pP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se 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Study V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id</a:t>
              </a:r>
              <a:r>
                <a:rPr lang="en-US" sz="2438" spc="-7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898" y="1019175"/>
            <a:ext cx="11201400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Results and Findings</a:t>
            </a:r>
          </a:p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implementation of Cyber Court demonstrated several positive outcomes during testing and evaluation.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69778" y="4285164"/>
            <a:ext cx="3473992" cy="2465261"/>
            <a:chOff x="0" y="0"/>
            <a:chExt cx="4631989" cy="3287015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341186" y="1379206"/>
              <a:ext cx="3949618" cy="1907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2"/>
                </a:lnSpc>
              </a:pP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igital 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evidence 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w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 cle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rly structured and easier to track across cases.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4631989" cy="1158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76"/>
                </a:lnSpc>
                <a:spcBef>
                  <a:spcPct val="0"/>
                </a:spcBef>
              </a:pP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Imp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ove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E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enc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 Organization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20606" y="4285164"/>
            <a:ext cx="3473992" cy="2465261"/>
            <a:chOff x="0" y="0"/>
            <a:chExt cx="4631989" cy="328701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341186" y="1379206"/>
              <a:ext cx="3949618" cy="1907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2"/>
                </a:lnSpc>
              </a:pP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AI-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assisted 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ana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lys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 reduced the need for extensive manual processing.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4631989" cy="1158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76"/>
                </a:lnSpc>
                <a:spcBef>
                  <a:spcPct val="0"/>
                </a:spcBef>
              </a:pPr>
              <a:r>
                <a:rPr lang="en-US" sz="2897" spc="-86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Redu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Ma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Eff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ort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93402" y="4285164"/>
            <a:ext cx="3473992" cy="2027111"/>
            <a:chOff x="0" y="0"/>
            <a:chExt cx="4631989" cy="270281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341186" y="795006"/>
              <a:ext cx="3949618" cy="19078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2"/>
                </a:lnSpc>
              </a:pP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Ev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ent timel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ine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helped present cyber incidents in an organized and understandable way.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525"/>
              <a:ext cx="4631989" cy="5746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76"/>
                </a:lnSpc>
                <a:spcBef>
                  <a:spcPct val="0"/>
                </a:spcBef>
              </a:pPr>
              <a:r>
                <a:rPr lang="en-US" sz="2897" spc="-86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Cle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ar Case Timelines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44230" y="4285164"/>
            <a:ext cx="3473992" cy="2827211"/>
            <a:chOff x="0" y="0"/>
            <a:chExt cx="4631989" cy="376961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341186" y="1379206"/>
              <a:ext cx="3949618" cy="2390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02"/>
                </a:lnSpc>
              </a:pP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inking technical find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ing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 w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it</a:t>
              </a:r>
              <a:r>
                <a:rPr lang="en-US" sz="2073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h legal context improved overall case interpretation.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525"/>
              <a:ext cx="4631989" cy="1158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76"/>
                </a:lnSpc>
                <a:spcBef>
                  <a:spcPct val="0"/>
                </a:spcBef>
              </a:pPr>
              <a:r>
                <a:rPr lang="en-US" sz="2897" spc="-86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Be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ter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Legal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sta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nd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2897" spc="-86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19175"/>
            <a:ext cx="15516225" cy="151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Challenges Faced</a:t>
            </a:r>
          </a:p>
          <a:p>
            <a:pPr algn="l" marL="0" indent="0" lvl="0">
              <a:lnSpc>
                <a:spcPts val="2900"/>
              </a:lnSpc>
              <a:spcBef>
                <a:spcPct val="0"/>
              </a:spcBef>
            </a:pPr>
            <a:r>
              <a:rPr lang="en-US" sz="2900" spc="-87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During the development of Cyber Court, several challenges were encountered.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283244"/>
            <a:ext cx="6886575" cy="1419225"/>
            <a:chOff x="0" y="0"/>
            <a:chExt cx="9182100" cy="18923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En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suring AI outputs were clear and understandable without being fully automated.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AI Expl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bi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3597127"/>
            <a:ext cx="6886575" cy="1790700"/>
            <a:chOff x="0" y="0"/>
            <a:chExt cx="9182100" cy="238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934720"/>
              <a:ext cx="9182100" cy="1452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Combin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ing cybersecurity analysis with legal interpretation required careful system design.</a:t>
              </a:r>
            </a:p>
            <a:p>
              <a:pPr algn="l" marL="0" indent="0" lvl="0">
                <a:lnSpc>
                  <a:spcPts val="294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Technical and 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Legal Integration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58350" y="6283177"/>
            <a:ext cx="6886575" cy="1419225"/>
            <a:chOff x="0" y="0"/>
            <a:chExt cx="9182100" cy="18923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Th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 project was developed within limited time and academic resources.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Time 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and Academic 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Constraints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58350" y="3597194"/>
            <a:ext cx="6886575" cy="1419225"/>
            <a:chOff x="0" y="0"/>
            <a:chExt cx="9182100" cy="18923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34720"/>
              <a:ext cx="91821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100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nalysis accuracy depended heavily on the quality of user input.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04775"/>
              <a:ext cx="91821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spc="-78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D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Qua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lit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 Dependenc</a:t>
              </a:r>
              <a:r>
                <a:rPr lang="en-US" sz="2600" spc="-78" strike="noStrike" u="none">
                  <a:solidFill>
                    <a:srgbClr val="00CCCC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8150" y="3837979"/>
            <a:ext cx="3695839" cy="4114800"/>
          </a:xfrm>
          <a:custGeom>
            <a:avLst/>
            <a:gdLst/>
            <a:ahLst/>
            <a:cxnLst/>
            <a:rect r="r" b="b" t="t" l="l"/>
            <a:pathLst>
              <a:path h="4114800" w="3695839">
                <a:moveTo>
                  <a:pt x="0" y="0"/>
                </a:moveTo>
                <a:lnTo>
                  <a:pt x="3695839" y="0"/>
                </a:lnTo>
                <a:lnTo>
                  <a:pt x="36958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657225"/>
            <a:ext cx="11201400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pc="-240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Future Enhancements</a:t>
            </a:r>
          </a:p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800" spc="-84" strike="noStrike" u="none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Cyber Court can be extended in several directions to enhance its capabilities and applicability.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6750" y="3185574"/>
            <a:ext cx="8727017" cy="1304810"/>
            <a:chOff x="0" y="0"/>
            <a:chExt cx="11636022" cy="173974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879746"/>
              <a:ext cx="9921837" cy="86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7"/>
                </a:lnSpc>
              </a:pP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upport a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dditi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l cybercrime types beyond phishing and financial fraud.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525"/>
              <a:ext cx="11636022" cy="569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2"/>
                </a:lnSpc>
                <a:spcBef>
                  <a:spcPct val="0"/>
                </a:spcBef>
              </a:pP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Expand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Cyber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crime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Co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ve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ra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6228885"/>
            <a:ext cx="8727017" cy="1304810"/>
            <a:chOff x="0" y="0"/>
            <a:chExt cx="11636022" cy="17397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79746"/>
              <a:ext cx="9921837" cy="86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7"/>
                </a:lnSpc>
              </a:pP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Appl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y m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ore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advanced AI methods to improve analysis accuracy and insights.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525"/>
              <a:ext cx="11636022" cy="569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2"/>
                </a:lnSpc>
                <a:spcBef>
                  <a:spcPct val="0"/>
                </a:spcBef>
              </a:pPr>
              <a:r>
                <a:rPr lang="en-US" sz="2860" spc="-85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va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AI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Techn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qu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7752770"/>
            <a:ext cx="8727017" cy="972758"/>
            <a:chOff x="0" y="0"/>
            <a:chExt cx="11636022" cy="129701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879746"/>
              <a:ext cx="9921837" cy="4172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7"/>
                </a:lnSpc>
              </a:pP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ntegrate live data sources for more dynamic case analysis.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9525"/>
              <a:ext cx="11636022" cy="569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2"/>
                </a:lnSpc>
                <a:spcBef>
                  <a:spcPct val="0"/>
                </a:spcBef>
              </a:pPr>
              <a:r>
                <a:rPr lang="en-US" sz="2860" spc="-85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l-T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Da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Integr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ati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6750" y="4704999"/>
            <a:ext cx="8727017" cy="1304810"/>
            <a:chOff x="0" y="0"/>
            <a:chExt cx="11636022" cy="17397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879746"/>
              <a:ext cx="9921837" cy="860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27"/>
                </a:lnSpc>
              </a:pP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Ext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end legal cov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erage</a:t>
              </a:r>
              <a:r>
                <a:rPr lang="en-US" sz="187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to include more jurisdictions and regulations.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9525"/>
              <a:ext cx="11636022" cy="569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2"/>
                </a:lnSpc>
                <a:spcBef>
                  <a:spcPct val="0"/>
                </a:spcBef>
              </a:pPr>
              <a:r>
                <a:rPr lang="en-US" sz="2860" spc="-85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Bro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ader 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Leg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al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 Fram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work</a:t>
              </a:r>
              <a:r>
                <a:rPr lang="en-US" sz="2860" spc="-85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94621" y="8362323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13297253" cy="2184401"/>
            <a:chOff x="0" y="0"/>
            <a:chExt cx="17729671" cy="291253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7729671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</a:t>
              </a: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onc</a:t>
              </a: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lu</a:t>
              </a:r>
              <a:r>
                <a:rPr lang="en-US" sz="8000" spc="-240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550459"/>
              <a:ext cx="1767933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9"/>
                </a:lnSpc>
                <a:spcBef>
                  <a:spcPct val="0"/>
                </a:spcBef>
              </a:pPr>
              <a:r>
                <a:rPr lang="en-US" sz="3199" spc="-95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Cyber Court presents a unified a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ach to unde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stand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ing 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cybercrim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 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cas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by c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mbining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techn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cal a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alysis with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 legal 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cont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</a:t>
              </a:r>
              <a:r>
                <a:rPr lang="en-US" sz="3199" spc="-95" strike="noStrike" u="none">
                  <a:solidFill>
                    <a:srgbClr val="00FFFF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xt.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3255061"/>
            <a:ext cx="8494505" cy="1252755"/>
            <a:chOff x="0" y="0"/>
            <a:chExt cx="11326006" cy="167034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841762"/>
              <a:ext cx="9657492" cy="828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7"/>
                </a:lnSpc>
              </a:pP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The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system successfully connects cybersecurity findings with legal 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in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terpretation in a clear structure.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11326006" cy="563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  <a:spcBef>
                  <a:spcPct val="0"/>
                </a:spcBef>
              </a:pPr>
              <a:r>
                <a:rPr lang="en-US" sz="2784" spc="-8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Bridging th</a:t>
              </a:r>
              <a:r>
                <a:rPr lang="en-US" sz="2784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 Gap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6750" y="4786442"/>
            <a:ext cx="8494505" cy="1252755"/>
            <a:chOff x="0" y="0"/>
            <a:chExt cx="11326006" cy="16703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841762"/>
              <a:ext cx="9657492" cy="828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7"/>
                </a:lnSpc>
              </a:pP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AI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is applied as a decis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ion-support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 tool to enhance understanding without replacing human judgment.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11326006" cy="563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  <a:spcBef>
                  <a:spcPct val="0"/>
                </a:spcBef>
              </a:pPr>
              <a:r>
                <a:rPr lang="en-US" sz="2784" spc="-8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2784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esponsible AI Use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6750" y="6317424"/>
            <a:ext cx="8494505" cy="1252755"/>
            <a:chOff x="0" y="0"/>
            <a:chExt cx="11326006" cy="167034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841762"/>
              <a:ext cx="9657492" cy="8285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7"/>
                </a:lnSpc>
              </a:pP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1827">
                  <a:solidFill>
                    <a:srgbClr val="C0C0C0"/>
                  </a:solidFill>
                  <a:latin typeface="TT Fors"/>
                  <a:ea typeface="TT Fors"/>
                  <a:cs typeface="TT Fors"/>
                  <a:sym typeface="TT Fors"/>
                </a:rPr>
                <a:t>yber Court demonstrates a practical and well-scoped graduation project with strong interdisciplinary foundations.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11326006" cy="5635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1"/>
                </a:lnSpc>
                <a:spcBef>
                  <a:spcPct val="0"/>
                </a:spcBef>
              </a:pPr>
              <a:r>
                <a:rPr lang="en-US" sz="2784" spc="-83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Acad</a:t>
              </a:r>
              <a:r>
                <a:rPr lang="en-US" sz="2784" spc="-83" strike="noStrike" u="none">
                  <a:solidFill>
                    <a:srgbClr val="00CCCC"/>
                  </a:solidFill>
                  <a:latin typeface="TT Fors"/>
                  <a:ea typeface="TT Fors"/>
                  <a:cs typeface="TT Fors"/>
                  <a:sym typeface="TT Fors"/>
                </a:rPr>
                <a:t>emic Value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5888" y="3644900"/>
            <a:ext cx="15516225" cy="299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5000" spc="-450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The End</a:t>
            </a:r>
          </a:p>
          <a:p>
            <a:pPr algn="ctr" marL="0" indent="0" lvl="0">
              <a:lnSpc>
                <a:spcPts val="6500"/>
              </a:lnSpc>
              <a:spcBef>
                <a:spcPct val="0"/>
              </a:spcBef>
            </a:pPr>
            <a:r>
              <a:rPr lang="en-US" sz="6500" spc="-195">
                <a:solidFill>
                  <a:srgbClr val="00FFFF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AI-Based Cybercrime Investigation</dc:description>
  <dc:identifier>DAG9rx_-BV0</dc:identifier>
  <dcterms:modified xsi:type="dcterms:W3CDTF">2011-08-01T06:04:30Z</dcterms:modified>
  <cp:revision>1</cp:revision>
  <dc:title>Presentation - AI-Based Cybercrime Investigation</dc:title>
</cp:coreProperties>
</file>